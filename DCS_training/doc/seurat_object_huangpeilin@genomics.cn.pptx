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1457" r:id="rId3"/>
    <p:sldId id="1461" r:id="rId4"/>
    <p:sldId id="11088658" r:id="rId5"/>
    <p:sldId id="1463" r:id="rId6"/>
    <p:sldId id="11088662" r:id="rId7"/>
    <p:sldId id="11088660" r:id="rId8"/>
    <p:sldId id="1465" r:id="rId9"/>
    <p:sldId id="1464" r:id="rId10"/>
    <p:sldId id="11088664" r:id="rId11"/>
    <p:sldId id="11088663" r:id="rId12"/>
    <p:sldId id="11088665" r:id="rId13"/>
    <p:sldId id="11088666" r:id="rId14"/>
    <p:sldId id="11088667" r:id="rId15"/>
    <p:sldId id="11088671" r:id="rId16"/>
    <p:sldId id="11088668" r:id="rId17"/>
    <p:sldId id="11088669" r:id="rId18"/>
    <p:sldId id="11088670" r:id="rId19"/>
    <p:sldId id="1456"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C18ED31-DA2B-4D92-842B-A5E41F33408F}">
          <p14:sldIdLst>
            <p14:sldId id="1457"/>
            <p14:sldId id="1461"/>
            <p14:sldId id="11088658"/>
            <p14:sldId id="1463"/>
            <p14:sldId id="11088662"/>
            <p14:sldId id="11088660"/>
            <p14:sldId id="1465"/>
            <p14:sldId id="1464"/>
            <p14:sldId id="11088664"/>
            <p14:sldId id="11088663"/>
            <p14:sldId id="11088665"/>
            <p14:sldId id="11088666"/>
            <p14:sldId id="11088667"/>
            <p14:sldId id="11088671"/>
            <p14:sldId id="11088668"/>
            <p14:sldId id="11088669"/>
            <p14:sldId id="11088670"/>
            <p14:sldId id="1456"/>
          </p14:sldIdLst>
        </p14:section>
        <p14:section name="example" id="{2ED1FBB5-A37F-4DA6-9AFC-1BACE99CF4B6}">
          <p14:sldIdLst/>
        </p14:section>
      </p14:sectionLst>
    </p:ext>
    <p:ext uri="{EFAFB233-063F-42B5-8137-9DF3F51BA10A}">
      <p15:sldGuideLst xmlns:p15="http://schemas.microsoft.com/office/powerpoint/2012/main">
        <p15:guide id="1" orient="horz" pos="2435" userDrawn="1">
          <p15:clr>
            <a:srgbClr val="A4A3A4"/>
          </p15:clr>
        </p15:guide>
        <p15:guide id="2" pos="38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CD3"/>
    <a:srgbClr val="00ADD3"/>
    <a:srgbClr val="4081D0"/>
    <a:srgbClr val="6498D9"/>
    <a:srgbClr val="25C778"/>
    <a:srgbClr val="0066CC"/>
    <a:srgbClr val="F2F2F2"/>
    <a:srgbClr val="BDD7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613" autoAdjust="0"/>
  </p:normalViewPr>
  <p:slideViewPr>
    <p:cSldViewPr snapToGrid="0" showGuides="1">
      <p:cViewPr varScale="1">
        <p:scale>
          <a:sx n="65" d="100"/>
          <a:sy n="65" d="100"/>
        </p:scale>
        <p:origin x="90" y="138"/>
      </p:cViewPr>
      <p:guideLst>
        <p:guide orient="horz" pos="2435"/>
        <p:guide pos="3870"/>
      </p:guideLst>
    </p:cSldViewPr>
  </p:slideViewPr>
  <p:notesTextViewPr>
    <p:cViewPr>
      <p:scale>
        <a:sx n="1" d="1"/>
        <a:sy n="1" d="1"/>
      </p:scale>
      <p:origin x="0" y="0"/>
    </p:cViewPr>
  </p:notesTextViewPr>
  <p:sorterViewPr>
    <p:cViewPr>
      <p:scale>
        <a:sx n="100" d="100"/>
        <a:sy n="100" d="100"/>
      </p:scale>
      <p:origin x="0" y="-132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23A937-D29C-4AE2-BDCC-59120BD7378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1F1605-4749-4CB4-B768-DD108B6F2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5" name="图片 4" descr="图片包含 游戏机, 鸟&#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p:cNvSpPr>
            <a:spLocks noGrp="1"/>
          </p:cNvSpPr>
          <p:nvPr>
            <p:ph type="ctrTitle"/>
          </p:nvPr>
        </p:nvSpPr>
        <p:spPr>
          <a:xfrm>
            <a:off x="1524000" y="2434212"/>
            <a:ext cx="9144000" cy="1006475"/>
          </a:xfrm>
          <a:prstGeom prst="rect">
            <a:avLst/>
          </a:prstGeom>
        </p:spPr>
        <p:txBody>
          <a:bodyPr anchor="b"/>
          <a:lstStyle>
            <a:lvl1pPr algn="ctr">
              <a:defRPr sz="5400">
                <a:solidFill>
                  <a:schemeClr val="bg1"/>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524000" y="3685168"/>
            <a:ext cx="9144000" cy="1006475"/>
          </a:xfrm>
          <a:prstGeom prst="rect">
            <a:avLst/>
          </a:prstGeom>
        </p:spPr>
        <p:txBody>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dirty="0"/>
          </a:p>
        </p:txBody>
      </p:sp>
      <p:pic>
        <p:nvPicPr>
          <p:cNvPr id="7" name="图片 6"/>
          <p:cNvPicPr>
            <a:picLocks noChangeAspect="1"/>
          </p:cNvPicPr>
          <p:nvPr/>
        </p:nvPicPr>
        <p:blipFill>
          <a:blip r:embed="rId3" cstate="screen"/>
          <a:stretch>
            <a:fillRect/>
          </a:stretch>
        </p:blipFill>
        <p:spPr>
          <a:xfrm>
            <a:off x="9125447" y="5591859"/>
            <a:ext cx="2782642" cy="724474"/>
          </a:xfrm>
          <a:prstGeom prst="rect">
            <a:avLst/>
          </a:prstGeom>
        </p:spPr>
      </p:pic>
      <p:pic>
        <p:nvPicPr>
          <p:cNvPr id="9" name="图片 8"/>
          <p:cNvPicPr>
            <a:picLocks noChangeAspect="1"/>
          </p:cNvPicPr>
          <p:nvPr/>
        </p:nvPicPr>
        <p:blipFill rotWithShape="1">
          <a:blip r:embed="rId4" cstate="print">
            <a:extLst>
              <a:ext uri="{28A0092B-C50C-407E-A947-70E740481C1C}">
                <a14:useLocalDpi xmlns:a14="http://schemas.microsoft.com/office/drawing/2010/main" val="0"/>
              </a:ext>
            </a:extLst>
          </a:blip>
          <a:srcRect l="6930" t="15813" r="6902" b="15548"/>
          <a:stretch>
            <a:fillRect/>
          </a:stretch>
        </p:blipFill>
        <p:spPr>
          <a:xfrm>
            <a:off x="4296000" y="1427614"/>
            <a:ext cx="3600000" cy="88211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1_标题幻灯片">
    <p:spTree>
      <p:nvGrpSpPr>
        <p:cNvPr id="1" name=""/>
        <p:cNvGrpSpPr/>
        <p:nvPr/>
      </p:nvGrpSpPr>
      <p:grpSpPr>
        <a:xfrm>
          <a:off x="0" y="0"/>
          <a:ext cx="0" cy="0"/>
          <a:chOff x="0" y="0"/>
          <a:chExt cx="0" cy="0"/>
        </a:xfrm>
      </p:grpSpPr>
      <p:pic>
        <p:nvPicPr>
          <p:cNvPr id="5" name="图片 4" descr="图片包含 游戏机, 鸟&#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 1"/>
          <p:cNvSpPr>
            <a:spLocks noGrp="1"/>
          </p:cNvSpPr>
          <p:nvPr>
            <p:ph type="ctrTitle"/>
          </p:nvPr>
        </p:nvSpPr>
        <p:spPr>
          <a:xfrm>
            <a:off x="1524000" y="2434212"/>
            <a:ext cx="9144000" cy="1006475"/>
          </a:xfrm>
          <a:prstGeom prst="rect">
            <a:avLst/>
          </a:prstGeom>
        </p:spPr>
        <p:txBody>
          <a:bodyPr anchor="b"/>
          <a:lstStyle>
            <a:lvl1pPr algn="ctr">
              <a:defRPr sz="5400">
                <a:solidFill>
                  <a:schemeClr val="bg1"/>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524000" y="3685168"/>
            <a:ext cx="9144000" cy="1006475"/>
          </a:xfrm>
          <a:prstGeom prst="rect">
            <a:avLst/>
          </a:prstGeom>
        </p:spPr>
        <p:txBody>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dirty="0"/>
          </a:p>
        </p:txBody>
      </p:sp>
      <p:pic>
        <p:nvPicPr>
          <p:cNvPr id="7" name="图片 6"/>
          <p:cNvPicPr>
            <a:picLocks noChangeAspect="1"/>
          </p:cNvPicPr>
          <p:nvPr/>
        </p:nvPicPr>
        <p:blipFill>
          <a:blip r:embed="rId3" cstate="screen"/>
          <a:stretch>
            <a:fillRect/>
          </a:stretch>
        </p:blipFill>
        <p:spPr>
          <a:xfrm>
            <a:off x="9125447" y="5591859"/>
            <a:ext cx="2782642" cy="7244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2436" y="309262"/>
            <a:ext cx="10030691" cy="545259"/>
          </a:xfrm>
          <a:prstGeom prst="rect">
            <a:avLst/>
          </a:prstGeom>
        </p:spPr>
        <p:txBody>
          <a:bodyPr/>
          <a:lstStyle>
            <a:lvl1pPr algn="r">
              <a:defRPr sz="3600" b="1">
                <a:latin typeface="微软雅黑" panose="020B0503020204020204" pitchFamily="34" charset="-122"/>
                <a:ea typeface="微软雅黑" panose="020B0503020204020204" pitchFamily="34" charset="-122"/>
              </a:defRPr>
            </a:lvl1pPr>
          </a:lstStyle>
          <a:p>
            <a:r>
              <a:rPr lang="zh-CN" altLang="en-US" dirty="0"/>
              <a:t>单击此处添加标题</a:t>
            </a:r>
            <a:endParaRPr lang="zh-CN" altLang="en-US" dirty="0"/>
          </a:p>
        </p:txBody>
      </p:sp>
      <p:sp>
        <p:nvSpPr>
          <p:cNvPr id="3" name="内容占位符 2"/>
          <p:cNvSpPr>
            <a:spLocks noGrp="1"/>
          </p:cNvSpPr>
          <p:nvPr>
            <p:ph idx="1"/>
          </p:nvPr>
        </p:nvSpPr>
        <p:spPr>
          <a:xfrm>
            <a:off x="838200" y="1253330"/>
            <a:ext cx="10515600" cy="4938923"/>
          </a:xfrm>
          <a:prstGeom prst="rect">
            <a:avLst/>
          </a:prstGeom>
        </p:spPr>
        <p:txBody>
          <a:bodyPr/>
          <a:lstStyle>
            <a:lvl1pPr>
              <a:defRPr>
                <a:latin typeface="微软雅黑" panose="020B0503020204020204" pitchFamily="34" charset="-122"/>
                <a:ea typeface="微软雅黑" panose="020B0503020204020204" pitchFamily="34" charset="-122"/>
              </a:defRPr>
            </a:lvl1pPr>
            <a:lvl2pPr marL="800100" indent="-342900">
              <a:buFont typeface="微软雅黑" panose="020B0503020204020204" pitchFamily="34" charset="-122"/>
              <a:buChar cha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marL="1600200" indent="-228600">
              <a:buFont typeface="微软雅黑" panose="020B0503020204020204" pitchFamily="34" charset="-122"/>
              <a:buChar cha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4"/>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B7A22B-378E-47BC-8F39-91368CCFD85B}" type="datetime1">
              <a:rPr lang="zh-CN" altLang="en-US" smtClean="0"/>
            </a:fld>
            <a:endParaRPr lang="zh-CN" altLang="en-US"/>
          </a:p>
        </p:txBody>
      </p:sp>
      <p:sp>
        <p:nvSpPr>
          <p:cNvPr id="5" name="页脚占位符 5"/>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                             </a:t>
            </a:r>
            <a:endParaRPr lang="zh-CN" altLang="en-US"/>
          </a:p>
        </p:txBody>
      </p:sp>
      <p:sp>
        <p:nvSpPr>
          <p:cNvPr id="6" name="灯片编号占位符 6"/>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281AEB-07EC-42BD-BA3B-0262F1DD417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2436" y="309262"/>
            <a:ext cx="10030691" cy="545259"/>
          </a:xfrm>
          <a:prstGeom prst="rect">
            <a:avLst/>
          </a:prstGeom>
        </p:spPr>
        <p:txBody>
          <a:bodyPr/>
          <a:lstStyle>
            <a:lvl1pPr algn="r">
              <a:defRPr sz="3600" b="1">
                <a:latin typeface="微软雅黑" panose="020B0503020204020204" pitchFamily="34" charset="-122"/>
                <a:ea typeface="微软雅黑" panose="020B0503020204020204" pitchFamily="34" charset="-122"/>
              </a:defRPr>
            </a:lvl1pPr>
          </a:lstStyle>
          <a:p>
            <a:r>
              <a:rPr lang="zh-CN" altLang="en-US" dirty="0"/>
              <a:t>单击此处添加标题</a:t>
            </a:r>
            <a:endParaRPr lang="zh-CN" altLang="en-US" dirty="0"/>
          </a:p>
        </p:txBody>
      </p:sp>
      <p:sp>
        <p:nvSpPr>
          <p:cNvPr id="4" name="日期占位符 4"/>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B7A22B-378E-47BC-8F39-91368CCFD85B}" type="datetime1">
              <a:rPr lang="zh-CN" altLang="en-US" smtClean="0"/>
            </a:fld>
            <a:endParaRPr lang="zh-CN" altLang="en-US"/>
          </a:p>
        </p:txBody>
      </p:sp>
      <p:sp>
        <p:nvSpPr>
          <p:cNvPr id="5" name="页脚占位符 5"/>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                             </a:t>
            </a:r>
            <a:endParaRPr lang="zh-CN" altLang="en-US"/>
          </a:p>
        </p:txBody>
      </p:sp>
      <p:sp>
        <p:nvSpPr>
          <p:cNvPr id="6" name="灯片编号占位符 6"/>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281AEB-07EC-42BD-BA3B-0262F1DD417E}" type="slidenum">
              <a:rPr lang="zh-CN" altLang="en-US" smtClean="0"/>
            </a:fld>
            <a:endParaRPr lang="zh-CN" altLang="en-US"/>
          </a:p>
        </p:txBody>
      </p:sp>
      <p:sp>
        <p:nvSpPr>
          <p:cNvPr id="7" name="内容占位符 2"/>
          <p:cNvSpPr>
            <a:spLocks noGrp="1"/>
          </p:cNvSpPr>
          <p:nvPr>
            <p:ph idx="1"/>
          </p:nvPr>
        </p:nvSpPr>
        <p:spPr>
          <a:xfrm>
            <a:off x="838200" y="1253330"/>
            <a:ext cx="4941498" cy="4938923"/>
          </a:xfrm>
          <a:prstGeom prst="rect">
            <a:avLst/>
          </a:prstGeom>
        </p:spPr>
        <p:txBody>
          <a:bodyPr/>
          <a:lstStyle>
            <a:lvl1pPr>
              <a:defRPr>
                <a:latin typeface="微软雅黑" panose="020B0503020204020204" pitchFamily="34" charset="-122"/>
                <a:ea typeface="微软雅黑" panose="020B0503020204020204" pitchFamily="34" charset="-122"/>
              </a:defRPr>
            </a:lvl1pPr>
            <a:lvl2pPr marL="800100" indent="-342900">
              <a:buFont typeface="微软雅黑" panose="020B0503020204020204" pitchFamily="34" charset="-122"/>
              <a:buChar cha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marL="1600200" indent="-228600">
              <a:buFont typeface="微软雅黑" panose="020B0503020204020204" pitchFamily="34" charset="-122"/>
              <a:buChar cha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8" name="内容占位符 2"/>
          <p:cNvSpPr>
            <a:spLocks noGrp="1"/>
          </p:cNvSpPr>
          <p:nvPr>
            <p:ph idx="13"/>
          </p:nvPr>
        </p:nvSpPr>
        <p:spPr>
          <a:xfrm>
            <a:off x="6412304" y="1253330"/>
            <a:ext cx="4941498" cy="4938923"/>
          </a:xfrm>
          <a:prstGeom prst="rect">
            <a:avLst/>
          </a:prstGeom>
        </p:spPr>
        <p:txBody>
          <a:bodyPr/>
          <a:lstStyle>
            <a:lvl1pPr>
              <a:defRPr>
                <a:latin typeface="微软雅黑" panose="020B0503020204020204" pitchFamily="34" charset="-122"/>
                <a:ea typeface="微软雅黑" panose="020B0503020204020204" pitchFamily="34" charset="-122"/>
              </a:defRPr>
            </a:lvl1pPr>
            <a:lvl2pPr marL="800100" indent="-342900">
              <a:buFont typeface="微软雅黑" panose="020B0503020204020204" pitchFamily="34" charset="-122"/>
              <a:buChar cha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marL="1600200" indent="-228600">
              <a:buFont typeface="微软雅黑" panose="020B0503020204020204" pitchFamily="34" charset="-122"/>
              <a:buChar cha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482436" y="309262"/>
            <a:ext cx="10030691" cy="545259"/>
          </a:xfrm>
          <a:prstGeom prst="rect">
            <a:avLst/>
          </a:prstGeom>
        </p:spPr>
        <p:txBody>
          <a:bodyPr/>
          <a:lstStyle>
            <a:lvl1pPr algn="r">
              <a:defRPr sz="3600" b="1">
                <a:latin typeface="微软雅黑" panose="020B0503020204020204" pitchFamily="34" charset="-122"/>
                <a:ea typeface="微软雅黑" panose="020B0503020204020204" pitchFamily="34" charset="-122"/>
              </a:defRPr>
            </a:lvl1pPr>
          </a:lstStyle>
          <a:p>
            <a:r>
              <a:rPr lang="zh-CN" altLang="en-US" dirty="0"/>
              <a:t>单击此处添加标题</a:t>
            </a:r>
            <a:endParaRPr lang="zh-CN" altLang="en-US" dirty="0"/>
          </a:p>
        </p:txBody>
      </p:sp>
      <p:sp>
        <p:nvSpPr>
          <p:cNvPr id="4" name="日期占位符 4"/>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B7A22B-378E-47BC-8F39-91368CCFD85B}" type="datetime1">
              <a:rPr lang="zh-CN" altLang="en-US" smtClean="0"/>
            </a:fld>
            <a:endParaRPr lang="zh-CN" altLang="en-US"/>
          </a:p>
        </p:txBody>
      </p:sp>
      <p:sp>
        <p:nvSpPr>
          <p:cNvPr id="5" name="页脚占位符 5"/>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                             </a:t>
            </a:r>
            <a:endParaRPr lang="zh-CN" altLang="en-US"/>
          </a:p>
        </p:txBody>
      </p:sp>
      <p:sp>
        <p:nvSpPr>
          <p:cNvPr id="6" name="灯片编号占位符 6"/>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281AEB-07EC-42BD-BA3B-0262F1DD417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p:cSld name="节标题">
    <p:spTree>
      <p:nvGrpSpPr>
        <p:cNvPr id="1" name=""/>
        <p:cNvGrpSpPr/>
        <p:nvPr/>
      </p:nvGrpSpPr>
      <p:grpSpPr>
        <a:xfrm>
          <a:off x="0" y="0"/>
          <a:ext cx="0" cy="0"/>
          <a:chOff x="0" y="0"/>
          <a:chExt cx="0" cy="0"/>
        </a:xfrm>
      </p:grpSpPr>
      <p:pic>
        <p:nvPicPr>
          <p:cNvPr id="8" name="图片 7" descr="图片包含 游戏机, 鸟&#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5877" y="342900"/>
            <a:ext cx="1050372" cy="419793"/>
          </a:xfrm>
          <a:prstGeom prst="rect">
            <a:avLst/>
          </a:prstGeom>
        </p:spPr>
      </p:pic>
      <p:pic>
        <p:nvPicPr>
          <p:cNvPr id="10" name="图片 9"/>
          <p:cNvPicPr>
            <a:picLocks noChangeAspect="1"/>
          </p:cNvPicPr>
          <p:nvPr/>
        </p:nvPicPr>
        <p:blipFill>
          <a:blip r:embed="rId4"/>
          <a:stretch>
            <a:fillRect/>
          </a:stretch>
        </p:blipFill>
        <p:spPr>
          <a:xfrm>
            <a:off x="2134532" y="5668184"/>
            <a:ext cx="7922936" cy="816935"/>
          </a:xfrm>
          <a:prstGeom prst="rect">
            <a:avLst/>
          </a:prstGeom>
        </p:spPr>
      </p:pic>
      <p:pic>
        <p:nvPicPr>
          <p:cNvPr id="11" name="图片 10"/>
          <p:cNvPicPr>
            <a:picLocks noChangeAspect="1"/>
          </p:cNvPicPr>
          <p:nvPr/>
        </p:nvPicPr>
        <p:blipFill>
          <a:blip r:embed="rId5"/>
          <a:stretch>
            <a:fillRect/>
          </a:stretch>
        </p:blipFill>
        <p:spPr>
          <a:xfrm>
            <a:off x="0" y="2609596"/>
            <a:ext cx="12192000" cy="181660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直接连接符 7"/>
          <p:cNvCxnSpPr/>
          <p:nvPr/>
        </p:nvCxnSpPr>
        <p:spPr>
          <a:xfrm>
            <a:off x="241739" y="885776"/>
            <a:ext cx="11268000" cy="0"/>
          </a:xfrm>
          <a:prstGeom prst="line">
            <a:avLst/>
          </a:prstGeom>
          <a:ln w="38100">
            <a:solidFill>
              <a:srgbClr val="00ADD3"/>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41739" y="357732"/>
            <a:ext cx="1203561" cy="37022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png"/><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en-US" altLang="zh-CN" dirty="0"/>
              <a:t>Seurat</a:t>
            </a:r>
            <a:r>
              <a:rPr lang="zh-CN" altLang="en-US" dirty="0"/>
              <a:t>对象数据结构</a:t>
            </a:r>
            <a:r>
              <a:rPr lang="zh-CN" altLang="en-US" dirty="0"/>
              <a:t>解析</a:t>
            </a:r>
            <a:endParaRPr lang="zh-CN" altLang="en-US" dirty="0"/>
          </a:p>
        </p:txBody>
      </p:sp>
      <p:sp>
        <p:nvSpPr>
          <p:cNvPr id="5" name="副标题 4"/>
          <p:cNvSpPr>
            <a:spLocks noGrp="1"/>
          </p:cNvSpPr>
          <p:nvPr>
            <p:ph type="subTitle" idx="1"/>
          </p:nvPr>
        </p:nvSpPr>
        <p:spPr/>
        <p:txBody>
          <a:bodyPr/>
          <a:lstStyle/>
          <a:p>
            <a:r>
              <a:rPr lang="zh-CN" altLang="en-US" dirty="0"/>
              <a:t>黄培霖</a:t>
            </a:r>
            <a:endParaRPr lang="en-US" altLang="zh-CN" dirty="0"/>
          </a:p>
          <a:p>
            <a:r>
              <a:rPr lang="en-US" altLang="zh-CN" dirty="0"/>
              <a:t>2025.08.29</a:t>
            </a:r>
            <a:endParaRPr lang="en-US" altLang="zh-CN" dirty="0"/>
          </a:p>
        </p:txBody>
      </p:sp>
      <p:pic>
        <p:nvPicPr>
          <p:cNvPr id="6" name="图片 5"/>
          <p:cNvPicPr>
            <a:picLocks noChangeAspect="1"/>
          </p:cNvPicPr>
          <p:nvPr/>
        </p:nvPicPr>
        <p:blipFill>
          <a:blip r:embed="rId1" cstate="screen"/>
          <a:stretch>
            <a:fillRect/>
          </a:stretch>
        </p:blipFill>
        <p:spPr>
          <a:xfrm>
            <a:off x="9125447" y="5591859"/>
            <a:ext cx="2782642" cy="7244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Background</a:t>
            </a:r>
            <a:endParaRPr lang="zh-CN" altLang="en-US" dirty="0"/>
          </a:p>
        </p:txBody>
      </p:sp>
      <p:sp>
        <p:nvSpPr>
          <p:cNvPr id="5" name="内容占位符 4"/>
          <p:cNvSpPr>
            <a:spLocks noGrp="1"/>
          </p:cNvSpPr>
          <p:nvPr>
            <p:ph idx="1"/>
          </p:nvPr>
        </p:nvSpPr>
        <p:spPr>
          <a:xfrm>
            <a:off x="128905" y="985520"/>
            <a:ext cx="11999595" cy="5872480"/>
          </a:xfrm>
        </p:spPr>
        <p:txBody>
          <a:bodyPr/>
          <a:lstStyle/>
          <a:p>
            <a:r>
              <a:rPr lang="zh-CN" altLang="en-US" sz="2400" dirty="0"/>
              <a:t>背景知识</a:t>
            </a:r>
            <a:r>
              <a:rPr lang="en-US" altLang="zh-CN" sz="2400" dirty="0"/>
              <a:t>1</a:t>
            </a:r>
            <a:r>
              <a:rPr lang="zh-CN" altLang="en-US" sz="2400" dirty="0"/>
              <a:t>：什么是</a:t>
            </a:r>
            <a:r>
              <a:rPr lang="en-US" altLang="zh-CN" sz="2400" dirty="0"/>
              <a:t>Seurat</a:t>
            </a:r>
            <a:r>
              <a:rPr lang="zh-CN" altLang="en-US" sz="2400" dirty="0"/>
              <a:t>？</a:t>
            </a:r>
            <a:endParaRPr lang="en-US" altLang="zh-CN" sz="2400" dirty="0"/>
          </a:p>
          <a:p>
            <a:r>
              <a:rPr lang="zh-CN" altLang="en-US" sz="2400" dirty="0"/>
              <a:t>答：</a:t>
            </a:r>
            <a:r>
              <a:rPr lang="en-US" altLang="zh-CN" sz="1800" dirty="0"/>
              <a:t>Seurat </a:t>
            </a:r>
            <a:r>
              <a:rPr lang="zh-CN" altLang="en-US" sz="1800" dirty="0"/>
              <a:t>是一个</a:t>
            </a:r>
            <a:r>
              <a:rPr lang="en-US" altLang="zh-CN" sz="1800" dirty="0"/>
              <a:t>R</a:t>
            </a:r>
            <a:r>
              <a:rPr lang="zh-CN" altLang="en-US" sz="1800" dirty="0"/>
              <a:t>语言软件包，它主要用于单细胞</a:t>
            </a:r>
            <a:r>
              <a:rPr lang="en-US" altLang="zh-CN" sz="1800" dirty="0"/>
              <a:t>RNA</a:t>
            </a:r>
            <a:r>
              <a:rPr lang="zh-CN" altLang="en-US" sz="1800" dirty="0"/>
              <a:t>测序（</a:t>
            </a:r>
            <a:r>
              <a:rPr lang="en-US" altLang="zh-CN" sz="1800" dirty="0"/>
              <a:t>scRNA-seq</a:t>
            </a:r>
            <a:r>
              <a:rPr lang="zh-CN" altLang="en-US" sz="1800" dirty="0"/>
              <a:t>）数据的分析和可视化。将一个复杂的单细胞实验中的所有数据和分析结果整合到一个统一、结构化的对象中，那这个对象就叫</a:t>
            </a:r>
            <a:r>
              <a:rPr lang="en-US" altLang="zh-CN" sz="1800" dirty="0"/>
              <a:t>SeuratObject</a:t>
            </a:r>
            <a:r>
              <a:rPr lang="zh-CN" altLang="en-US" sz="1800" dirty="0"/>
              <a:t>。一个</a:t>
            </a:r>
            <a:r>
              <a:rPr lang="en-US" altLang="zh-CN" sz="1800" dirty="0"/>
              <a:t> SeuratObject </a:t>
            </a:r>
            <a:r>
              <a:rPr lang="zh-CN" altLang="en-US" sz="1800" dirty="0"/>
              <a:t>就像一个高度组织化的</a:t>
            </a:r>
            <a:r>
              <a:rPr lang="en-US" altLang="zh-CN" sz="1800" dirty="0"/>
              <a:t>“</a:t>
            </a:r>
            <a:r>
              <a:rPr lang="zh-CN" altLang="en-US" sz="1800" dirty="0"/>
              <a:t>容器</a:t>
            </a:r>
            <a:r>
              <a:rPr lang="en-US" altLang="zh-CN" sz="1800" dirty="0"/>
              <a:t>”</a:t>
            </a:r>
            <a:r>
              <a:rPr lang="zh-CN" altLang="en-US" sz="1800" dirty="0"/>
              <a:t>或</a:t>
            </a:r>
            <a:r>
              <a:rPr lang="en-US" altLang="zh-CN" sz="1800" dirty="0"/>
              <a:t>“</a:t>
            </a:r>
            <a:r>
              <a:rPr lang="zh-CN" altLang="en-US" sz="1800" dirty="0"/>
              <a:t>文件夹</a:t>
            </a:r>
            <a:r>
              <a:rPr lang="en-US" altLang="zh-CN" sz="1800" dirty="0"/>
              <a:t>”</a:t>
            </a:r>
            <a:r>
              <a:rPr lang="zh-CN" altLang="en-US" sz="1800" dirty="0"/>
              <a:t>，它包含了多个</a:t>
            </a:r>
            <a:r>
              <a:rPr lang="en-US" altLang="zh-CN" sz="1800" dirty="0"/>
              <a:t>“</a:t>
            </a:r>
            <a:r>
              <a:rPr lang="zh-CN" altLang="en-US" sz="1800" dirty="0"/>
              <a:t>子文件夹</a:t>
            </a:r>
            <a:r>
              <a:rPr lang="en-US" altLang="zh-CN" sz="1800" dirty="0"/>
              <a:t>”</a:t>
            </a:r>
            <a:r>
              <a:rPr lang="zh-CN" altLang="en-US" sz="1800" dirty="0"/>
              <a:t>，每个子文件夹存储特定类型的数据。</a:t>
            </a:r>
            <a:endParaRPr lang="zh-CN" altLang="en-US" sz="1800" dirty="0"/>
          </a:p>
          <a:p>
            <a:endParaRPr lang="zh-CN" altLang="en-US" dirty="0"/>
          </a:p>
          <a:p>
            <a:r>
              <a:rPr lang="zh-CN" altLang="en-US" sz="2400" dirty="0"/>
              <a:t>背景知识</a:t>
            </a:r>
            <a:r>
              <a:rPr lang="en-US" altLang="zh-CN" sz="2400" dirty="0"/>
              <a:t>2</a:t>
            </a:r>
            <a:r>
              <a:rPr lang="zh-CN" altLang="en-US" sz="2400" dirty="0"/>
              <a:t>：什么是</a:t>
            </a:r>
            <a:r>
              <a:rPr lang="en-US" altLang="zh-CN" sz="2400" dirty="0"/>
              <a:t>RDS/RData</a:t>
            </a:r>
            <a:r>
              <a:rPr lang="zh-CN" altLang="en-US" sz="2400" dirty="0"/>
              <a:t>？</a:t>
            </a:r>
            <a:endParaRPr lang="zh-CN" altLang="en-US" sz="2400" dirty="0"/>
          </a:p>
          <a:p>
            <a:r>
              <a:rPr lang="zh-CN" altLang="en-US" sz="2400" dirty="0"/>
              <a:t>答：</a:t>
            </a:r>
            <a:r>
              <a:rPr lang="en-US" altLang="zh-CN" sz="1800" dirty="0"/>
              <a:t>RDS </a:t>
            </a:r>
            <a:r>
              <a:rPr lang="zh-CN" altLang="en-US" sz="1800" dirty="0"/>
              <a:t>和</a:t>
            </a:r>
            <a:r>
              <a:rPr lang="en-US" altLang="zh-CN" sz="1800" dirty="0"/>
              <a:t> RData </a:t>
            </a:r>
            <a:r>
              <a:rPr lang="zh-CN" altLang="en-US" sz="1800" dirty="0"/>
              <a:t>是</a:t>
            </a:r>
            <a:r>
              <a:rPr lang="en-US" altLang="zh-CN" sz="1800" dirty="0"/>
              <a:t> R </a:t>
            </a:r>
            <a:r>
              <a:rPr lang="zh-CN" altLang="en-US" sz="1800" dirty="0"/>
              <a:t>语言中两种用于将数据对象保存到磁盘和从磁盘读取的默认文件格式。</a:t>
            </a:r>
            <a:r>
              <a:rPr lang="en-US" altLang="zh-CN" sz="1800" dirty="0"/>
              <a:t>RDS</a:t>
            </a:r>
            <a:r>
              <a:rPr lang="zh-CN" altLang="en-US" sz="1800" dirty="0"/>
              <a:t>用于保存</a:t>
            </a:r>
            <a:r>
              <a:rPr lang="en-US" altLang="zh-CN" sz="1800" dirty="0"/>
              <a:t>/</a:t>
            </a:r>
            <a:r>
              <a:rPr lang="zh-CN" altLang="en-US" sz="1800" dirty="0"/>
              <a:t>处理单个</a:t>
            </a:r>
            <a:r>
              <a:rPr lang="en-US" altLang="zh-CN" sz="1800" dirty="0"/>
              <a:t>R</a:t>
            </a:r>
            <a:r>
              <a:rPr lang="zh-CN" altLang="en-US" sz="1800" dirty="0"/>
              <a:t>对象。</a:t>
            </a:r>
            <a:r>
              <a:rPr lang="en-US" altLang="zh-CN" sz="1800" dirty="0"/>
              <a:t>RData</a:t>
            </a:r>
            <a:r>
              <a:rPr lang="zh-CN" altLang="en-US" sz="1800" dirty="0"/>
              <a:t>用于</a:t>
            </a:r>
            <a:r>
              <a:rPr lang="zh-CN" altLang="en-US" sz="1800" dirty="0">
                <a:sym typeface="+mn-ea"/>
              </a:rPr>
              <a:t>保存</a:t>
            </a:r>
            <a:r>
              <a:rPr lang="en-US" altLang="zh-CN" sz="1800" dirty="0">
                <a:sym typeface="+mn-ea"/>
              </a:rPr>
              <a:t>/</a:t>
            </a:r>
            <a:r>
              <a:rPr lang="zh-CN" altLang="en-US" sz="1800" dirty="0">
                <a:sym typeface="+mn-ea"/>
              </a:rPr>
              <a:t>处理单个</a:t>
            </a:r>
            <a:r>
              <a:rPr lang="en-US" altLang="zh-CN" sz="1800" dirty="0">
                <a:sym typeface="+mn-ea"/>
              </a:rPr>
              <a:t>/</a:t>
            </a:r>
            <a:r>
              <a:rPr lang="zh-CN" altLang="en-US" sz="1800" dirty="0">
                <a:sym typeface="+mn-ea"/>
              </a:rPr>
              <a:t>多个</a:t>
            </a:r>
            <a:r>
              <a:rPr lang="en-US" altLang="zh-CN" sz="1800" dirty="0">
                <a:sym typeface="+mn-ea"/>
              </a:rPr>
              <a:t>R</a:t>
            </a:r>
            <a:r>
              <a:rPr lang="zh-CN" altLang="en-US" sz="1800" dirty="0">
                <a:sym typeface="+mn-ea"/>
              </a:rPr>
              <a:t>对象。</a:t>
            </a:r>
            <a:endParaRPr lang="zh-CN" altLang="en-US" sz="1800" dirty="0">
              <a:sym typeface="+mn-ea"/>
            </a:endParaRPr>
          </a:p>
          <a:p>
            <a:endParaRPr lang="zh-CN" altLang="en-US" sz="1800" dirty="0">
              <a:sym typeface="+mn-ea"/>
            </a:endParaRPr>
          </a:p>
          <a:p>
            <a:r>
              <a:rPr lang="zh-CN" altLang="en-US" sz="2400" dirty="0">
                <a:sym typeface="+mn-ea"/>
              </a:rPr>
              <a:t>背景知识</a:t>
            </a:r>
            <a:r>
              <a:rPr lang="en-US" altLang="zh-CN" sz="2400" dirty="0">
                <a:sym typeface="+mn-ea"/>
              </a:rPr>
              <a:t>3</a:t>
            </a:r>
            <a:r>
              <a:rPr lang="zh-CN" altLang="en-US" sz="2400" dirty="0">
                <a:sym typeface="+mn-ea"/>
              </a:rPr>
              <a:t>：什么是表达矩阵？</a:t>
            </a:r>
            <a:endParaRPr lang="zh-CN" altLang="en-US" sz="2400" dirty="0"/>
          </a:p>
          <a:p>
            <a:r>
              <a:rPr lang="zh-CN" altLang="en-US" sz="2400" dirty="0">
                <a:sym typeface="+mn-ea"/>
              </a:rPr>
              <a:t>答：</a:t>
            </a:r>
            <a:r>
              <a:rPr lang="zh-CN" altLang="en-US" sz="1800" dirty="0">
                <a:sym typeface="+mn-ea"/>
              </a:rPr>
              <a:t>表达矩阵是生物信息学中的一个特定术语，它是一个二维矩阵，可以把它想象成一个</a:t>
            </a:r>
            <a:r>
              <a:rPr lang="en-US" altLang="zh-CN" sz="1800" dirty="0">
                <a:sym typeface="+mn-ea"/>
              </a:rPr>
              <a:t>excel</a:t>
            </a:r>
            <a:r>
              <a:rPr lang="zh-CN" altLang="en-US" sz="1800" dirty="0">
                <a:sym typeface="+mn-ea"/>
              </a:rPr>
              <a:t>表格。</a:t>
            </a:r>
            <a:endParaRPr lang="zh-CN" altLang="en-US" sz="1800" dirty="0">
              <a:sym typeface="+mn-ea"/>
            </a:endParaRPr>
          </a:p>
          <a:p>
            <a:pPr marL="0" indent="0">
              <a:buNone/>
            </a:pPr>
            <a:r>
              <a:rPr lang="en-US" altLang="zh-CN" sz="1800" dirty="0">
                <a:sym typeface="+mn-ea"/>
              </a:rPr>
              <a:t>    </a:t>
            </a:r>
            <a:r>
              <a:rPr lang="zh-CN" altLang="en-US" sz="1800" dirty="0">
                <a:sym typeface="+mn-ea"/>
              </a:rPr>
              <a:t>行：</a:t>
            </a:r>
            <a:r>
              <a:rPr lang="en-US" altLang="zh-CN" sz="1800" dirty="0">
                <a:sym typeface="+mn-ea"/>
              </a:rPr>
              <a:t> </a:t>
            </a:r>
            <a:r>
              <a:rPr lang="zh-CN" altLang="en-US" sz="1800" dirty="0">
                <a:sym typeface="+mn-ea"/>
              </a:rPr>
              <a:t>通常代表基因。</a:t>
            </a:r>
            <a:endParaRPr lang="zh-CN" altLang="en-US" sz="1800" dirty="0">
              <a:sym typeface="+mn-ea"/>
            </a:endParaRPr>
          </a:p>
          <a:p>
            <a:pPr marL="0" indent="0">
              <a:buNone/>
            </a:pPr>
            <a:r>
              <a:rPr lang="en-US" altLang="zh-CN" sz="1800" dirty="0">
                <a:sym typeface="+mn-ea"/>
              </a:rPr>
              <a:t>    </a:t>
            </a:r>
            <a:r>
              <a:rPr lang="zh-CN" altLang="en-US" sz="1800" dirty="0">
                <a:sym typeface="+mn-ea"/>
              </a:rPr>
              <a:t>列：</a:t>
            </a:r>
            <a:r>
              <a:rPr lang="en-US" altLang="zh-CN" sz="1800" dirty="0">
                <a:sym typeface="+mn-ea"/>
              </a:rPr>
              <a:t> </a:t>
            </a:r>
            <a:r>
              <a:rPr lang="zh-CN" altLang="en-US" sz="1800" dirty="0">
                <a:sym typeface="+mn-ea"/>
              </a:rPr>
              <a:t>通常代表样本（在普通</a:t>
            </a:r>
            <a:r>
              <a:rPr lang="en-US" altLang="zh-CN" sz="1800" dirty="0">
                <a:sym typeface="+mn-ea"/>
              </a:rPr>
              <a:t>RNA-seq</a:t>
            </a:r>
            <a:r>
              <a:rPr lang="zh-CN" altLang="en-US" sz="1800" dirty="0">
                <a:sym typeface="+mn-ea"/>
              </a:rPr>
              <a:t>中）或单个细胞（在单细胞</a:t>
            </a:r>
            <a:r>
              <a:rPr lang="en-US" altLang="zh-CN" sz="1800" dirty="0">
                <a:sym typeface="+mn-ea"/>
              </a:rPr>
              <a:t>RNA-seq</a:t>
            </a:r>
            <a:r>
              <a:rPr lang="zh-CN" altLang="en-US" sz="1800" dirty="0">
                <a:sym typeface="+mn-ea"/>
              </a:rPr>
              <a:t>中）。</a:t>
            </a:r>
            <a:endParaRPr lang="zh-CN" altLang="en-US" sz="1800" dirty="0">
              <a:sym typeface="+mn-ea"/>
            </a:endParaRPr>
          </a:p>
          <a:p>
            <a:pPr marL="0" indent="0">
              <a:buNone/>
            </a:pPr>
            <a:r>
              <a:rPr lang="en-US" altLang="zh-CN" sz="1800" dirty="0">
                <a:sym typeface="+mn-ea"/>
              </a:rPr>
              <a:t>    </a:t>
            </a:r>
            <a:r>
              <a:rPr lang="zh-CN" altLang="en-US" sz="1800" dirty="0">
                <a:sym typeface="+mn-ea"/>
              </a:rPr>
              <a:t>矩阵中的值：</a:t>
            </a:r>
            <a:r>
              <a:rPr lang="en-US" altLang="zh-CN" sz="1800" dirty="0">
                <a:sym typeface="+mn-ea"/>
              </a:rPr>
              <a:t> </a:t>
            </a:r>
            <a:r>
              <a:rPr lang="zh-CN" altLang="en-US" sz="1800" dirty="0">
                <a:sym typeface="+mn-ea"/>
              </a:rPr>
              <a:t>代表某个基因在某个样本</a:t>
            </a:r>
            <a:r>
              <a:rPr lang="en-US" altLang="zh-CN" sz="1800" dirty="0">
                <a:sym typeface="+mn-ea"/>
              </a:rPr>
              <a:t>/</a:t>
            </a:r>
            <a:r>
              <a:rPr lang="zh-CN" altLang="en-US" sz="1800" dirty="0">
                <a:sym typeface="+mn-ea"/>
              </a:rPr>
              <a:t>细胞中的表达量。这个值通常是标准化后的读数计数。</a:t>
            </a:r>
            <a:endParaRPr lang="zh-CN" altLang="en-US" sz="1800"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Seurat</a:t>
            </a:r>
            <a:r>
              <a:rPr lang="en-US" altLang="zh-CN" dirty="0">
                <a:sym typeface="+mn-ea"/>
              </a:rPr>
              <a:t>Object</a:t>
            </a:r>
            <a:r>
              <a:rPr lang="zh-CN" altLang="en-US" dirty="0"/>
              <a:t>结构示意</a:t>
            </a:r>
            <a:r>
              <a:rPr lang="zh-CN" altLang="en-US" dirty="0"/>
              <a:t>图</a:t>
            </a:r>
            <a:endParaRPr lang="zh-CN" altLang="en-US" dirty="0"/>
          </a:p>
        </p:txBody>
      </p:sp>
      <p:pic>
        <p:nvPicPr>
          <p:cNvPr id="4" name="内容占位符 3" descr="deepseek_mermaid_20250828_9f752b"/>
          <p:cNvPicPr>
            <a:picLocks noChangeAspect="1"/>
          </p:cNvPicPr>
          <p:nvPr>
            <p:ph idx="1"/>
          </p:nvPr>
        </p:nvPicPr>
        <p:blipFill>
          <a:blip r:embed="rId1"/>
          <a:stretch>
            <a:fillRect/>
          </a:stretch>
        </p:blipFill>
        <p:spPr>
          <a:xfrm>
            <a:off x="91440" y="1691640"/>
            <a:ext cx="12009120" cy="41751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Materials &amp; Methods</a:t>
            </a:r>
            <a:endParaRPr lang="zh-CN" altLang="en-US" dirty="0"/>
          </a:p>
        </p:txBody>
      </p:sp>
      <p:sp>
        <p:nvSpPr>
          <p:cNvPr id="3" name="内容占位符 2"/>
          <p:cNvSpPr>
            <a:spLocks noGrp="1"/>
          </p:cNvSpPr>
          <p:nvPr>
            <p:ph idx="1"/>
          </p:nvPr>
        </p:nvSpPr>
        <p:spPr>
          <a:xfrm>
            <a:off x="139065" y="937260"/>
            <a:ext cx="11970385" cy="5920740"/>
          </a:xfrm>
        </p:spPr>
        <p:txBody>
          <a:bodyPr/>
          <a:lstStyle/>
          <a:p>
            <a:r>
              <a:rPr lang="zh-CN" altLang="en-US" sz="2400"/>
              <a:t>使用</a:t>
            </a:r>
            <a:r>
              <a:rPr lang="en-US" altLang="zh-CN" sz="2400"/>
              <a:t>Seurat</a:t>
            </a:r>
            <a:r>
              <a:rPr lang="zh-CN" altLang="en-US" sz="2400"/>
              <a:t>分析数据的流程通常是线性的。</a:t>
            </a:r>
            <a:endParaRPr lang="zh-CN" altLang="en-US" sz="2400"/>
          </a:p>
          <a:p>
            <a:r>
              <a:rPr lang="zh-CN" altLang="en-US" sz="2400"/>
              <a:t>标准</a:t>
            </a:r>
            <a:r>
              <a:rPr lang="en-US" altLang="zh-CN" sz="2400"/>
              <a:t>Workflow</a:t>
            </a:r>
            <a:r>
              <a:rPr lang="zh-CN" altLang="en-US" sz="2400"/>
              <a:t>如下：</a:t>
            </a:r>
            <a:endParaRPr lang="zh-CN" altLang="en-US"/>
          </a:p>
          <a:p>
            <a:r>
              <a:rPr lang="zh-CN" altLang="en-US" sz="1800"/>
              <a:t>创建对象：将原始或处理过的基因表达矩阵加载到</a:t>
            </a:r>
            <a:r>
              <a:rPr lang="en-US" altLang="zh-CN" sz="1800"/>
              <a:t>R</a:t>
            </a:r>
            <a:r>
              <a:rPr lang="zh-CN" altLang="en-US" sz="1800"/>
              <a:t>中，创建一个</a:t>
            </a:r>
            <a:r>
              <a:rPr lang="en-US" altLang="zh-CN" sz="1800"/>
              <a:t> SeuratObject</a:t>
            </a:r>
            <a:r>
              <a:rPr lang="zh-CN" altLang="en-US" sz="1800"/>
              <a:t>。</a:t>
            </a:r>
            <a:endParaRPr lang="en-US" altLang="zh-CN" sz="1800"/>
          </a:p>
          <a:p>
            <a:r>
              <a:rPr lang="zh-CN" altLang="en-US" sz="1800"/>
              <a:t>质控：计算细胞质量指标并过滤。</a:t>
            </a:r>
            <a:endParaRPr lang="en-US" altLang="zh-CN" sz="1800"/>
          </a:p>
          <a:p>
            <a:r>
              <a:rPr lang="zh-CN" altLang="en-US" sz="1800"/>
              <a:t>标准化：对数据进行标准化。</a:t>
            </a:r>
            <a:endParaRPr lang="en-US" altLang="zh-CN" sz="1800"/>
          </a:p>
          <a:p>
            <a:r>
              <a:rPr lang="zh-CN" altLang="en-US" sz="1800"/>
              <a:t>找高变基因：识别用于下游分析的基因子集。</a:t>
            </a:r>
            <a:endParaRPr lang="en-US" altLang="zh-CN" sz="1800"/>
          </a:p>
          <a:p>
            <a:r>
              <a:rPr lang="zh-CN" altLang="en-US" sz="1800"/>
              <a:t>缩放数据：为所有基因进行线性缩放，为</a:t>
            </a:r>
            <a:r>
              <a:rPr lang="en-US" altLang="zh-CN" sz="1800"/>
              <a:t>PCA</a:t>
            </a:r>
            <a:r>
              <a:rPr lang="zh-CN" altLang="en-US" sz="1800"/>
              <a:t>做准备。</a:t>
            </a:r>
            <a:endParaRPr lang="en-US" altLang="zh-CN" sz="1800"/>
          </a:p>
          <a:p>
            <a:r>
              <a:rPr lang="zh-CN" altLang="en-US" sz="1800"/>
              <a:t>线性降维：进行</a:t>
            </a:r>
            <a:r>
              <a:rPr lang="en-US" altLang="zh-CN" sz="1800"/>
              <a:t>PCA</a:t>
            </a:r>
            <a:r>
              <a:rPr lang="zh-CN" altLang="en-US" sz="1800"/>
              <a:t>分析。</a:t>
            </a:r>
            <a:endParaRPr lang="en-US" altLang="zh-CN" sz="1800"/>
          </a:p>
          <a:p>
            <a:r>
              <a:rPr lang="zh-CN" altLang="en-US" sz="1800"/>
              <a:t>聚类：基于</a:t>
            </a:r>
            <a:r>
              <a:rPr lang="en-US" altLang="zh-CN" sz="1800"/>
              <a:t>PCA</a:t>
            </a:r>
            <a:r>
              <a:rPr lang="zh-CN" altLang="en-US" sz="1800"/>
              <a:t>结果对细胞进行分群。</a:t>
            </a:r>
            <a:endParaRPr lang="en-US" altLang="zh-CN" sz="1800"/>
          </a:p>
          <a:p>
            <a:r>
              <a:rPr lang="zh-CN" altLang="en-US" sz="1800"/>
              <a:t>非线性降维：使用</a:t>
            </a:r>
            <a:r>
              <a:rPr lang="en-US" altLang="zh-CN" sz="1800"/>
              <a:t>UMAP</a:t>
            </a:r>
            <a:r>
              <a:rPr lang="zh-CN" altLang="en-US" sz="1800"/>
              <a:t>或</a:t>
            </a:r>
            <a:r>
              <a:rPr lang="en-US" altLang="zh-CN" sz="1800"/>
              <a:t>t-SNE</a:t>
            </a:r>
            <a:r>
              <a:rPr lang="zh-CN" altLang="en-US" sz="1800"/>
              <a:t>进行可视化。</a:t>
            </a:r>
            <a:endParaRPr lang="en-US" altLang="zh-CN" sz="1800"/>
          </a:p>
          <a:p>
            <a:r>
              <a:rPr lang="zh-CN" altLang="en-US" sz="1800"/>
              <a:t>寻找标志基因：为每个簇寻找差异表达的基因，以进行生物学注释（即给每个簇</a:t>
            </a:r>
            <a:r>
              <a:rPr lang="en-US" altLang="zh-CN" sz="1800"/>
              <a:t>“</a:t>
            </a:r>
            <a:r>
              <a:rPr lang="zh-CN" altLang="en-US" sz="1800"/>
              <a:t>命名</a:t>
            </a:r>
            <a:r>
              <a:rPr lang="en-US" altLang="zh-CN" sz="1800"/>
              <a:t>”</a:t>
            </a:r>
            <a:r>
              <a:rPr lang="zh-CN" altLang="en-US" sz="1800"/>
              <a:t>是什么细胞类型）。</a:t>
            </a:r>
            <a:endParaRPr lang="zh-CN" altLang="en-US" sz="1800"/>
          </a:p>
          <a:p>
            <a:r>
              <a:rPr lang="zh-CN" altLang="en-US" sz="2400"/>
              <a:t>运行完上述流程后，在</a:t>
            </a:r>
            <a:r>
              <a:rPr lang="en-US" altLang="zh-CN" sz="2400"/>
              <a:t>Seurat</a:t>
            </a:r>
            <a:r>
              <a:rPr lang="zh-CN" altLang="en-US" sz="2400"/>
              <a:t>对象后面加个</a:t>
            </a:r>
            <a:r>
              <a:rPr lang="en-US" altLang="zh-CN" sz="2400"/>
              <a:t>@ </a:t>
            </a:r>
            <a:r>
              <a:rPr lang="zh-CN" altLang="en-US" sz="2400"/>
              <a:t>，可以查看</a:t>
            </a:r>
            <a:r>
              <a:rPr lang="en-US" altLang="zh-CN" sz="2400"/>
              <a:t>Seurat</a:t>
            </a:r>
            <a:r>
              <a:rPr lang="zh-CN" altLang="en-US" sz="2400"/>
              <a:t>对象的内容</a:t>
            </a:r>
            <a:endParaRPr lang="zh-CN"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Seurat</a:t>
            </a:r>
            <a:r>
              <a:rPr lang="zh-CN" altLang="en-US"/>
              <a:t>对象</a:t>
            </a:r>
            <a:r>
              <a:rPr lang="zh-CN" altLang="en-US"/>
              <a:t>结构</a:t>
            </a:r>
            <a:endParaRPr lang="zh-CN" altLang="en-US"/>
          </a:p>
        </p:txBody>
      </p:sp>
      <p:pic>
        <p:nvPicPr>
          <p:cNvPr id="4" name="内容占位符 3" descr="一般流程完成后图"/>
          <p:cNvPicPr>
            <a:picLocks noChangeAspect="1"/>
          </p:cNvPicPr>
          <p:nvPr>
            <p:ph idx="1"/>
          </p:nvPr>
        </p:nvPicPr>
        <p:blipFill>
          <a:blip r:embed="rId1"/>
          <a:stretch>
            <a:fillRect/>
          </a:stretch>
        </p:blipFill>
        <p:spPr>
          <a:xfrm>
            <a:off x="1586230" y="1120775"/>
            <a:ext cx="8749665" cy="53613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a:t>
            </a:r>
            <a:r>
              <a:rPr lang="en-US" altLang="zh-CN" dirty="0"/>
              <a:t>ssay</a:t>
            </a:r>
            <a:endParaRPr lang="en-US" altLang="zh-CN" dirty="0"/>
          </a:p>
        </p:txBody>
      </p:sp>
      <p:sp>
        <p:nvSpPr>
          <p:cNvPr id="3" name="内容占位符 2"/>
          <p:cNvSpPr>
            <a:spLocks noGrp="1"/>
          </p:cNvSpPr>
          <p:nvPr>
            <p:ph idx="1"/>
          </p:nvPr>
        </p:nvSpPr>
        <p:spPr>
          <a:xfrm>
            <a:off x="187325" y="994410"/>
            <a:ext cx="11884025" cy="5864225"/>
          </a:xfrm>
        </p:spPr>
        <p:txBody>
          <a:bodyPr/>
          <a:lstStyle/>
          <a:p>
            <a:r>
              <a:rPr lang="zh-CN" altLang="en-US" sz="1800"/>
              <a:t>一个</a:t>
            </a:r>
            <a:r>
              <a:rPr lang="en-US" altLang="zh-CN" sz="1800"/>
              <a:t>Seurat</a:t>
            </a:r>
            <a:r>
              <a:rPr lang="zh-CN" altLang="en-US" sz="1800"/>
              <a:t>对象可以包括多个</a:t>
            </a:r>
            <a:r>
              <a:rPr lang="en-US" altLang="zh-CN" sz="1800"/>
              <a:t>assay</a:t>
            </a:r>
            <a:r>
              <a:rPr lang="zh-CN" altLang="en-US" sz="1800"/>
              <a:t>对象，但是在某个时刻，只有一个</a:t>
            </a:r>
            <a:r>
              <a:rPr lang="en-US" altLang="zh-CN" sz="1800"/>
              <a:t>assay</a:t>
            </a:r>
            <a:r>
              <a:rPr lang="zh-CN" altLang="en-US" sz="1800"/>
              <a:t>对象是默认激活的。可以通过函数</a:t>
            </a:r>
            <a:r>
              <a:rPr lang="en-US" altLang="zh-CN" sz="1800"/>
              <a:t> active.assay </a:t>
            </a:r>
            <a:r>
              <a:rPr lang="zh-CN" altLang="en-US" sz="1800"/>
              <a:t>查询当前默认激活的是哪个</a:t>
            </a:r>
            <a:r>
              <a:rPr lang="en-US" altLang="zh-CN" sz="1800"/>
              <a:t>assay</a:t>
            </a:r>
            <a:r>
              <a:rPr lang="zh-CN" altLang="en-US" sz="1800"/>
              <a:t>对象，也可以用</a:t>
            </a:r>
            <a:r>
              <a:rPr lang="en-US" altLang="zh-CN" sz="1800"/>
              <a:t> DefaultAssay </a:t>
            </a:r>
            <a:r>
              <a:rPr lang="zh-CN" altLang="en-US" sz="1800"/>
              <a:t>来设置默认的</a:t>
            </a:r>
            <a:r>
              <a:rPr lang="en-US" altLang="zh-CN" sz="1800"/>
              <a:t> assay</a:t>
            </a:r>
            <a:r>
              <a:rPr lang="zh-CN" altLang="en-US" sz="1800"/>
              <a:t>。</a:t>
            </a:r>
            <a:endParaRPr lang="en-US" altLang="zh-CN" sz="1800"/>
          </a:p>
        </p:txBody>
      </p:sp>
      <p:pic>
        <p:nvPicPr>
          <p:cNvPr id="4" name="图片 3" descr="ASSAY"/>
          <p:cNvPicPr>
            <a:picLocks noChangeAspect="1"/>
          </p:cNvPicPr>
          <p:nvPr/>
        </p:nvPicPr>
        <p:blipFill>
          <a:blip r:embed="rId1"/>
          <a:stretch>
            <a:fillRect/>
          </a:stretch>
        </p:blipFill>
        <p:spPr>
          <a:xfrm>
            <a:off x="265430" y="2143760"/>
            <a:ext cx="7896225" cy="4619625"/>
          </a:xfrm>
          <a:prstGeom prst="rect">
            <a:avLst/>
          </a:prstGeom>
        </p:spPr>
      </p:pic>
      <p:pic>
        <p:nvPicPr>
          <p:cNvPr id="5" name="图片 4" descr="1"/>
          <p:cNvPicPr>
            <a:picLocks noChangeAspect="1"/>
          </p:cNvPicPr>
          <p:nvPr/>
        </p:nvPicPr>
        <p:blipFill>
          <a:blip r:embed="rId2"/>
          <a:stretch>
            <a:fillRect/>
          </a:stretch>
        </p:blipFill>
        <p:spPr>
          <a:xfrm>
            <a:off x="8549640" y="5561330"/>
            <a:ext cx="3445510" cy="1296670"/>
          </a:xfrm>
          <a:prstGeom prst="rect">
            <a:avLst/>
          </a:prstGeom>
        </p:spPr>
      </p:pic>
      <p:sp>
        <p:nvSpPr>
          <p:cNvPr id="6" name="文本框 5"/>
          <p:cNvSpPr txBox="1"/>
          <p:nvPr/>
        </p:nvSpPr>
        <p:spPr>
          <a:xfrm>
            <a:off x="8997315" y="5008880"/>
            <a:ext cx="2787650" cy="398780"/>
          </a:xfrm>
          <a:prstGeom prst="rect">
            <a:avLst/>
          </a:prstGeom>
          <a:noFill/>
        </p:spPr>
        <p:txBody>
          <a:bodyPr wrap="square" rtlCol="0">
            <a:spAutoFit/>
          </a:bodyPr>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目前默认都是</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“RNA”</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count</a:t>
            </a:r>
            <a:r>
              <a:rPr lang="en-US" altLang="zh-CN" dirty="0"/>
              <a:t>s</a:t>
            </a:r>
            <a:endParaRPr lang="en-US" altLang="zh-CN" dirty="0"/>
          </a:p>
        </p:txBody>
      </p:sp>
      <p:sp>
        <p:nvSpPr>
          <p:cNvPr id="3" name="内容占位符 2"/>
          <p:cNvSpPr>
            <a:spLocks noGrp="1"/>
          </p:cNvSpPr>
          <p:nvPr>
            <p:ph idx="1"/>
          </p:nvPr>
        </p:nvSpPr>
        <p:spPr>
          <a:xfrm>
            <a:off x="90805" y="975995"/>
            <a:ext cx="12009755" cy="5781675"/>
          </a:xfrm>
        </p:spPr>
        <p:txBody>
          <a:bodyPr/>
          <a:lstStyle/>
          <a:p>
            <a:r>
              <a:rPr lang="zh-CN" altLang="en-US" sz="1800"/>
              <a:t>以</a:t>
            </a:r>
            <a:r>
              <a:rPr lang="en-US" altLang="zh-CN" sz="1800"/>
              <a:t>assay-RNA</a:t>
            </a:r>
            <a:r>
              <a:rPr lang="zh-CN" altLang="en-US" sz="1800"/>
              <a:t>中的</a:t>
            </a:r>
            <a:r>
              <a:rPr lang="en-US" altLang="zh-CN" sz="1800"/>
              <a:t>counts</a:t>
            </a:r>
            <a:r>
              <a:rPr lang="zh-CN" altLang="en-US" sz="1800"/>
              <a:t>为例，其保存的是未经处理的原始数据。</a:t>
            </a:r>
            <a:endParaRPr lang="zh-CN" altLang="en-US" sz="1800"/>
          </a:p>
        </p:txBody>
      </p:sp>
      <p:pic>
        <p:nvPicPr>
          <p:cNvPr id="4" name="图片 3" descr="counts"/>
          <p:cNvPicPr>
            <a:picLocks noChangeAspect="1"/>
          </p:cNvPicPr>
          <p:nvPr/>
        </p:nvPicPr>
        <p:blipFill>
          <a:blip r:embed="rId1"/>
          <a:stretch>
            <a:fillRect/>
          </a:stretch>
        </p:blipFill>
        <p:spPr>
          <a:xfrm>
            <a:off x="694055" y="1953260"/>
            <a:ext cx="10803255" cy="43554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data</a:t>
            </a:r>
            <a:endParaRPr lang="en-US" altLang="zh-CN" dirty="0"/>
          </a:p>
        </p:txBody>
      </p:sp>
      <p:sp>
        <p:nvSpPr>
          <p:cNvPr id="3" name="内容占位符 2"/>
          <p:cNvSpPr>
            <a:spLocks noGrp="1"/>
          </p:cNvSpPr>
          <p:nvPr>
            <p:ph idx="1"/>
          </p:nvPr>
        </p:nvSpPr>
        <p:spPr>
          <a:xfrm>
            <a:off x="196850" y="1071880"/>
            <a:ext cx="11837035" cy="5714365"/>
          </a:xfrm>
        </p:spPr>
        <p:txBody>
          <a:bodyPr/>
          <a:lstStyle/>
          <a:p>
            <a:r>
              <a:rPr lang="en-US" altLang="zh-CN" sz="1800"/>
              <a:t>data</a:t>
            </a:r>
            <a:r>
              <a:rPr lang="zh-CN" altLang="en-US" sz="1800"/>
              <a:t>存的是归一化后的数据，数据归一化的目的是将每个细胞的基因表达值调整到同一尺度，消除测序深度对表达数据的影响。通常，基因表达数据会进行对数变换，以便更好地比较各个基因的表达水平。</a:t>
            </a:r>
            <a:endParaRPr lang="zh-CN" altLang="en-US" sz="1800"/>
          </a:p>
          <a:p>
            <a:r>
              <a:rPr lang="zh-CN" altLang="en-US" sz="1800"/>
              <a:t>如何得到</a:t>
            </a:r>
            <a:r>
              <a:rPr lang="en-US" altLang="zh-CN" sz="1800"/>
              <a:t>data</a:t>
            </a:r>
            <a:r>
              <a:rPr lang="zh-CN" altLang="en-US" sz="1800"/>
              <a:t>：</a:t>
            </a:r>
            <a:r>
              <a:rPr lang="zh-CN" altLang="en-US" sz="1800">
                <a:sym typeface="+mn-ea"/>
              </a:rPr>
              <a:t>通过</a:t>
            </a:r>
            <a:r>
              <a:rPr lang="en-US" altLang="zh-CN" sz="1800">
                <a:sym typeface="+mn-ea"/>
              </a:rPr>
              <a:t> </a:t>
            </a:r>
            <a:r>
              <a:rPr lang="en-US" altLang="zh-CN" sz="1800">
                <a:sym typeface="+mn-ea"/>
              </a:rPr>
              <a:t>NormalizeData </a:t>
            </a:r>
            <a:r>
              <a:rPr lang="zh-CN" altLang="en-US" sz="1800">
                <a:sym typeface="+mn-ea"/>
              </a:rPr>
              <a:t>函数得到，</a:t>
            </a:r>
            <a:r>
              <a:rPr lang="zh-CN" altLang="en-US" sz="1800"/>
              <a:t>它使用的是原始基因表达矩阵（通常是原始的</a:t>
            </a:r>
            <a:r>
              <a:rPr lang="en-US" altLang="zh-CN" sz="1800"/>
              <a:t> RNA counts</a:t>
            </a:r>
            <a:r>
              <a:rPr lang="zh-CN" altLang="en-US" sz="1800"/>
              <a:t>）。</a:t>
            </a:r>
            <a:endParaRPr lang="zh-CN" altLang="en-US" sz="1800"/>
          </a:p>
        </p:txBody>
      </p:sp>
      <p:pic>
        <p:nvPicPr>
          <p:cNvPr id="4" name="图片 3" descr="data"/>
          <p:cNvPicPr>
            <a:picLocks noChangeAspect="1"/>
          </p:cNvPicPr>
          <p:nvPr/>
        </p:nvPicPr>
        <p:blipFill>
          <a:blip r:embed="rId1"/>
          <a:stretch>
            <a:fillRect/>
          </a:stretch>
        </p:blipFill>
        <p:spPr>
          <a:xfrm>
            <a:off x="1340485" y="2134235"/>
            <a:ext cx="9510395" cy="43014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var.features</a:t>
            </a:r>
            <a:endParaRPr lang="en-US" altLang="zh-CN"/>
          </a:p>
        </p:txBody>
      </p:sp>
      <p:sp>
        <p:nvSpPr>
          <p:cNvPr id="3" name="内容占位符 2"/>
          <p:cNvSpPr>
            <a:spLocks noGrp="1"/>
          </p:cNvSpPr>
          <p:nvPr>
            <p:ph idx="1"/>
          </p:nvPr>
        </p:nvSpPr>
        <p:spPr>
          <a:xfrm>
            <a:off x="216535" y="967105"/>
            <a:ext cx="11855450" cy="5808980"/>
          </a:xfrm>
        </p:spPr>
        <p:txBody>
          <a:bodyPr/>
          <a:p>
            <a:r>
              <a:rPr lang="en-US" altLang="zh-CN" sz="1800">
                <a:sym typeface="+mn-ea"/>
              </a:rPr>
              <a:t>var.features</a:t>
            </a:r>
            <a:r>
              <a:rPr lang="zh-CN" altLang="en-US" sz="1800">
                <a:sym typeface="+mn-ea"/>
              </a:rPr>
              <a:t>存储的是，通过</a:t>
            </a:r>
            <a:r>
              <a:rPr lang="zh-CN" altLang="en-US" sz="1800"/>
              <a:t>选择在不同细胞之间变异性最大的基因（一般选择前</a:t>
            </a:r>
            <a:r>
              <a:rPr lang="en-US" altLang="zh-CN" sz="1800"/>
              <a:t> 2000 </a:t>
            </a:r>
            <a:r>
              <a:rPr lang="zh-CN" altLang="en-US" sz="1800"/>
              <a:t>个）的</a:t>
            </a:r>
            <a:r>
              <a:rPr lang="zh-CN" altLang="en-US" sz="1800"/>
              <a:t>结果。这些基因常被用于后续分析，如降维和聚类。</a:t>
            </a:r>
            <a:endParaRPr lang="zh-CN" altLang="en-US" sz="1800"/>
          </a:p>
          <a:p>
            <a:r>
              <a:rPr lang="zh-CN" altLang="en-US" sz="1800"/>
              <a:t>如何得到</a:t>
            </a:r>
            <a:r>
              <a:rPr lang="en-US" altLang="zh-CN" sz="1800">
                <a:sym typeface="+mn-ea"/>
              </a:rPr>
              <a:t>var.features</a:t>
            </a:r>
            <a:r>
              <a:rPr lang="zh-CN" altLang="en-US" sz="1800"/>
              <a:t>：通过函数</a:t>
            </a:r>
            <a:r>
              <a:rPr lang="en-US" altLang="zh-CN" sz="1800"/>
              <a:t> FindVariableFeatures </a:t>
            </a:r>
            <a:r>
              <a:rPr lang="zh-CN" altLang="en-US" sz="1800"/>
              <a:t>。它使用归一化后的数据（即上一步</a:t>
            </a:r>
            <a:r>
              <a:rPr lang="en-US" altLang="zh-CN" sz="1800"/>
              <a:t> NormalizeData </a:t>
            </a:r>
            <a:r>
              <a:rPr lang="zh-CN" altLang="en-US" sz="1800"/>
              <a:t>处理过的数据），通过计算每个基因在所有细胞中的变异性来选择最具代表性的基因。</a:t>
            </a:r>
            <a:endParaRPr lang="zh-CN" altLang="en-US" sz="1800"/>
          </a:p>
        </p:txBody>
      </p:sp>
      <p:pic>
        <p:nvPicPr>
          <p:cNvPr id="4" name="图片 3" descr="var.features"/>
          <p:cNvPicPr>
            <a:picLocks noChangeAspect="1"/>
          </p:cNvPicPr>
          <p:nvPr/>
        </p:nvPicPr>
        <p:blipFill>
          <a:blip r:embed="rId1"/>
          <a:stretch>
            <a:fillRect/>
          </a:stretch>
        </p:blipFill>
        <p:spPr>
          <a:xfrm>
            <a:off x="682625" y="2671445"/>
            <a:ext cx="11200130" cy="18218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scale.data</a:t>
            </a:r>
            <a:endParaRPr lang="zh-CN" altLang="en-US"/>
          </a:p>
        </p:txBody>
      </p:sp>
      <p:sp>
        <p:nvSpPr>
          <p:cNvPr id="3" name="内容占位符 2"/>
          <p:cNvSpPr>
            <a:spLocks noGrp="1"/>
          </p:cNvSpPr>
          <p:nvPr>
            <p:ph idx="1"/>
          </p:nvPr>
        </p:nvSpPr>
        <p:spPr>
          <a:xfrm>
            <a:off x="187960" y="1014730"/>
            <a:ext cx="11912600" cy="5761990"/>
          </a:xfrm>
        </p:spPr>
        <p:txBody>
          <a:bodyPr/>
          <a:p>
            <a:r>
              <a:rPr lang="en-US" altLang="zh-CN" sz="1800"/>
              <a:t>Scale.data</a:t>
            </a:r>
            <a:r>
              <a:rPr lang="zh-CN" altLang="en-US" sz="1800"/>
              <a:t>内存的是标准化后的数据。</a:t>
            </a:r>
            <a:r>
              <a:rPr lang="zh-CN" altLang="en-US" sz="1800"/>
              <a:t>通过将选择的变异基因数据进行标准化，使得每个基因的均值为</a:t>
            </a:r>
            <a:r>
              <a:rPr lang="en-US" altLang="zh-CN" sz="1800"/>
              <a:t> 0</a:t>
            </a:r>
            <a:r>
              <a:rPr lang="zh-CN" altLang="en-US" sz="1800"/>
              <a:t>，标准差为</a:t>
            </a:r>
            <a:r>
              <a:rPr lang="en-US" altLang="zh-CN" sz="1800"/>
              <a:t> 1</a:t>
            </a:r>
            <a:r>
              <a:rPr lang="zh-CN" altLang="en-US" sz="1800"/>
              <a:t>。这样可以确保每个基因在降维（如</a:t>
            </a:r>
            <a:r>
              <a:rPr lang="en-US" altLang="zh-CN" sz="1800"/>
              <a:t> PCA</a:t>
            </a:r>
            <a:r>
              <a:rPr lang="zh-CN" altLang="en-US" sz="1800"/>
              <a:t>）时具有相同的贡献，不会因为基因的表达水平差异过大而影响结果。</a:t>
            </a:r>
            <a:endParaRPr lang="zh-CN" altLang="en-US" sz="1800"/>
          </a:p>
          <a:p>
            <a:r>
              <a:rPr lang="zh-CN" altLang="en-US" sz="1800"/>
              <a:t>如何得到</a:t>
            </a:r>
            <a:r>
              <a:rPr lang="en-US" altLang="zh-CN" sz="1800">
                <a:sym typeface="+mn-ea"/>
              </a:rPr>
              <a:t>Scale.data</a:t>
            </a:r>
            <a:r>
              <a:rPr lang="zh-CN" altLang="en-US" sz="1800">
                <a:sym typeface="+mn-ea"/>
              </a:rPr>
              <a:t>：通过函数</a:t>
            </a:r>
            <a:r>
              <a:rPr lang="en-US" altLang="zh-CN" sz="1800">
                <a:sym typeface="+mn-ea"/>
              </a:rPr>
              <a:t>ScaleData</a:t>
            </a:r>
            <a:r>
              <a:rPr lang="zh-CN" altLang="en-US" sz="1800">
                <a:sym typeface="+mn-ea"/>
              </a:rPr>
              <a:t>。它使用的是上一步选择的变异基因数据。</a:t>
            </a:r>
            <a:endParaRPr lang="zh-CN" altLang="en-US" sz="1800">
              <a:sym typeface="+mn-ea"/>
            </a:endParaRPr>
          </a:p>
        </p:txBody>
      </p:sp>
      <p:pic>
        <p:nvPicPr>
          <p:cNvPr id="4" name="图片 3" descr="scale"/>
          <p:cNvPicPr>
            <a:picLocks noChangeAspect="1"/>
          </p:cNvPicPr>
          <p:nvPr/>
        </p:nvPicPr>
        <p:blipFill>
          <a:blip r:embed="rId1"/>
          <a:stretch>
            <a:fillRect/>
          </a:stretch>
        </p:blipFill>
        <p:spPr>
          <a:xfrm>
            <a:off x="1022350" y="2537460"/>
            <a:ext cx="10567035" cy="17830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meta.features</a:t>
            </a:r>
            <a:endParaRPr lang="en-US" altLang="zh-CN"/>
          </a:p>
        </p:txBody>
      </p:sp>
      <p:sp>
        <p:nvSpPr>
          <p:cNvPr id="3" name="内容占位符 2"/>
          <p:cNvSpPr>
            <a:spLocks noGrp="1"/>
          </p:cNvSpPr>
          <p:nvPr>
            <p:ph idx="1"/>
          </p:nvPr>
        </p:nvSpPr>
        <p:spPr>
          <a:xfrm>
            <a:off x="177165" y="995045"/>
            <a:ext cx="11875770" cy="5724525"/>
          </a:xfrm>
        </p:spPr>
        <p:txBody>
          <a:bodyPr/>
          <a:p>
            <a:r>
              <a:rPr lang="en-US" altLang="zh-CN" sz="1800"/>
              <a:t>Seurat</a:t>
            </a:r>
            <a:r>
              <a:rPr lang="zh-CN" altLang="en-US" sz="1800"/>
              <a:t>对象中的</a:t>
            </a:r>
            <a:r>
              <a:rPr lang="en-US" altLang="zh-CN" sz="1800"/>
              <a:t>meta.data </a:t>
            </a:r>
            <a:r>
              <a:rPr lang="zh-CN" altLang="en-US" sz="1800"/>
              <a:t>是对所有细胞做注释的数据框。而在</a:t>
            </a:r>
            <a:r>
              <a:rPr lang="en-US" altLang="zh-CN" sz="1800"/>
              <a:t>assay</a:t>
            </a:r>
            <a:r>
              <a:rPr lang="zh-CN" altLang="en-US" sz="1800"/>
              <a:t>对象中，</a:t>
            </a:r>
            <a:r>
              <a:rPr lang="en-US" altLang="zh-CN" sz="1800"/>
              <a:t>meta.features </a:t>
            </a:r>
            <a:r>
              <a:rPr lang="zh-CN" altLang="en-US" sz="1800"/>
              <a:t>是对每个</a:t>
            </a:r>
            <a:r>
              <a:rPr lang="en-US" altLang="zh-CN" sz="1800"/>
              <a:t> features </a:t>
            </a:r>
            <a:r>
              <a:rPr lang="zh-CN" altLang="en-US" sz="1800"/>
              <a:t>做的注释。</a:t>
            </a:r>
            <a:r>
              <a:rPr lang="en-US" altLang="zh-CN" sz="1800"/>
              <a:t> </a:t>
            </a:r>
            <a:r>
              <a:rPr lang="zh-CN" altLang="en-US" sz="1800"/>
              <a:t>如果要对</a:t>
            </a:r>
            <a:r>
              <a:rPr lang="en-US" altLang="zh-CN" sz="1800"/>
              <a:t> features </a:t>
            </a:r>
            <a:r>
              <a:rPr lang="zh-CN" altLang="en-US" sz="1800"/>
              <a:t>的功能进行注释、打分、筛选都需要用到</a:t>
            </a:r>
            <a:r>
              <a:rPr lang="en-US" altLang="zh-CN" sz="1800"/>
              <a:t>meta.features</a:t>
            </a:r>
            <a:r>
              <a:rPr lang="zh-CN" altLang="en-US" sz="1800"/>
              <a:t>。</a:t>
            </a:r>
            <a:endParaRPr lang="zh-CN" altLang="en-US" sz="1800"/>
          </a:p>
        </p:txBody>
      </p:sp>
      <p:pic>
        <p:nvPicPr>
          <p:cNvPr id="4" name="图片 3" descr="meta.features"/>
          <p:cNvPicPr>
            <a:picLocks noChangeAspect="1"/>
          </p:cNvPicPr>
          <p:nvPr/>
        </p:nvPicPr>
        <p:blipFill>
          <a:blip r:embed="rId1"/>
          <a:stretch>
            <a:fillRect/>
          </a:stretch>
        </p:blipFill>
        <p:spPr>
          <a:xfrm>
            <a:off x="1626235" y="2264410"/>
            <a:ext cx="9743440" cy="39376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meta.data</a:t>
            </a:r>
            <a:endParaRPr lang="en-US" altLang="zh-CN"/>
          </a:p>
        </p:txBody>
      </p:sp>
      <p:sp>
        <p:nvSpPr>
          <p:cNvPr id="3" name="内容占位符 2"/>
          <p:cNvSpPr>
            <a:spLocks noGrp="1"/>
          </p:cNvSpPr>
          <p:nvPr>
            <p:ph idx="1"/>
          </p:nvPr>
        </p:nvSpPr>
        <p:spPr>
          <a:xfrm>
            <a:off x="215265" y="975995"/>
            <a:ext cx="11770360" cy="5752465"/>
          </a:xfrm>
        </p:spPr>
        <p:txBody>
          <a:bodyPr/>
          <a:p>
            <a:r>
              <a:rPr lang="en-US" altLang="zh-CN" sz="1800"/>
              <a:t>Seurat</a:t>
            </a:r>
            <a:r>
              <a:rPr lang="zh-CN" altLang="en-US" sz="1800"/>
              <a:t>对象中的</a:t>
            </a:r>
            <a:r>
              <a:rPr lang="en-US" altLang="zh-CN" sz="1800"/>
              <a:t>meta.data </a:t>
            </a:r>
            <a:r>
              <a:rPr lang="zh-CN" altLang="en-US" sz="1800"/>
              <a:t>是一个用来对所有细胞做注释的数据框。每一行代表一个细胞，每一列代表细胞的属性。当需要根据细胞的属性和类型对细胞进行筛选的时候，经常会用到</a:t>
            </a:r>
            <a:r>
              <a:rPr lang="en-US" altLang="zh-CN" sz="1800"/>
              <a:t>meta.data</a:t>
            </a:r>
            <a:r>
              <a:rPr lang="zh-CN" altLang="en-US" sz="1800"/>
              <a:t>。当然也可以把新分析得到的结果，添加到</a:t>
            </a:r>
            <a:r>
              <a:rPr lang="en-US" altLang="zh-CN" sz="1800"/>
              <a:t>meta.data</a:t>
            </a:r>
            <a:r>
              <a:rPr lang="zh-CN" altLang="en-US" sz="1800"/>
              <a:t>中。</a:t>
            </a:r>
            <a:endParaRPr lang="zh-CN" altLang="en-US" sz="1800"/>
          </a:p>
        </p:txBody>
      </p:sp>
      <p:pic>
        <p:nvPicPr>
          <p:cNvPr id="4" name="图片 3" descr="meta.data"/>
          <p:cNvPicPr>
            <a:picLocks noChangeAspect="1"/>
          </p:cNvPicPr>
          <p:nvPr/>
        </p:nvPicPr>
        <p:blipFill>
          <a:blip r:embed="rId1"/>
          <a:stretch>
            <a:fillRect/>
          </a:stretch>
        </p:blipFill>
        <p:spPr>
          <a:xfrm>
            <a:off x="1871345" y="2193290"/>
            <a:ext cx="8448675" cy="3992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ident</a:t>
            </a:r>
            <a:endParaRPr lang="en-US" altLang="zh-CN"/>
          </a:p>
        </p:txBody>
      </p:sp>
      <p:sp>
        <p:nvSpPr>
          <p:cNvPr id="3" name="内容占位符 2"/>
          <p:cNvSpPr>
            <a:spLocks noGrp="1"/>
          </p:cNvSpPr>
          <p:nvPr>
            <p:ph idx="1"/>
          </p:nvPr>
        </p:nvSpPr>
        <p:spPr>
          <a:xfrm>
            <a:off x="187325" y="1005205"/>
            <a:ext cx="11893550" cy="5751830"/>
          </a:xfrm>
        </p:spPr>
        <p:txBody>
          <a:bodyPr/>
          <a:p>
            <a:r>
              <a:rPr lang="en-US" altLang="zh-CN" sz="1800"/>
              <a:t>ident</a:t>
            </a:r>
            <a:r>
              <a:rPr lang="zh-CN" altLang="en-US" sz="1800"/>
              <a:t>可以理解为细胞的类型，在</a:t>
            </a:r>
            <a:r>
              <a:rPr lang="en-US" altLang="zh-CN" sz="1800"/>
              <a:t>Seurat</a:t>
            </a:r>
            <a:r>
              <a:rPr lang="zh-CN" altLang="en-US" sz="1800"/>
              <a:t>对象中，细胞可能有好几种不同方法注释的类型（如不同的分辨率降维分组，但是在某一时刻，只有一种细胞类型是默认激活的。可以用</a:t>
            </a:r>
            <a:r>
              <a:rPr lang="en-US" altLang="zh-CN" sz="1800"/>
              <a:t> active.ident </a:t>
            </a:r>
            <a:r>
              <a:rPr lang="zh-CN" altLang="en-US" sz="1800"/>
              <a:t>来查询当前默认的细胞类型是什么。</a:t>
            </a:r>
            <a:endParaRPr lang="zh-CN" altLang="en-US" sz="1800"/>
          </a:p>
        </p:txBody>
      </p:sp>
      <p:pic>
        <p:nvPicPr>
          <p:cNvPr id="4" name="图片 3" descr="ident"/>
          <p:cNvPicPr>
            <a:picLocks noChangeAspect="1"/>
          </p:cNvPicPr>
          <p:nvPr/>
        </p:nvPicPr>
        <p:blipFill>
          <a:blip r:embed="rId1"/>
          <a:stretch>
            <a:fillRect/>
          </a:stretch>
        </p:blipFill>
        <p:spPr>
          <a:xfrm>
            <a:off x="1923415" y="1885950"/>
            <a:ext cx="8421370" cy="4688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graphs</a:t>
            </a:r>
            <a:endParaRPr lang="en-US" altLang="zh-CN"/>
          </a:p>
        </p:txBody>
      </p:sp>
      <p:sp>
        <p:nvSpPr>
          <p:cNvPr id="3" name="内容占位符 2"/>
          <p:cNvSpPr>
            <a:spLocks noGrp="1"/>
          </p:cNvSpPr>
          <p:nvPr>
            <p:ph idx="1"/>
          </p:nvPr>
        </p:nvSpPr>
        <p:spPr>
          <a:xfrm>
            <a:off x="292735" y="1042670"/>
            <a:ext cx="11730990" cy="5628005"/>
          </a:xfrm>
        </p:spPr>
        <p:txBody>
          <a:bodyPr/>
          <a:p>
            <a:r>
              <a:rPr lang="en-US" altLang="zh-CN" sz="2400"/>
              <a:t>graphs</a:t>
            </a:r>
            <a:r>
              <a:rPr lang="zh-CN" altLang="en-US" sz="2400"/>
              <a:t>内存</a:t>
            </a:r>
            <a:r>
              <a:rPr lang="zh-CN" altLang="en-US" sz="2400"/>
              <a:t>放的是细胞之间的图结构信息，主要包含以下两种图：</a:t>
            </a:r>
            <a:endParaRPr lang="zh-CN" altLang="en-US" sz="2400"/>
          </a:p>
          <a:p>
            <a:endParaRPr lang="en-US" altLang="zh-CN" sz="1800"/>
          </a:p>
          <a:p>
            <a:r>
              <a:rPr lang="en-US" altLang="zh-CN" sz="1800"/>
              <a:t>1.</a:t>
            </a:r>
            <a:r>
              <a:rPr lang="zh-CN" altLang="en-US" sz="1800"/>
              <a:t>邻接图（</a:t>
            </a:r>
            <a:r>
              <a:rPr lang="en-US" altLang="zh-CN" sz="1800"/>
              <a:t>Adjacency Graph</a:t>
            </a:r>
            <a:r>
              <a:rPr lang="zh-CN" altLang="en-US" sz="1800"/>
              <a:t>）：例如</a:t>
            </a:r>
            <a:r>
              <a:rPr lang="en-US" altLang="zh-CN" sz="1800"/>
              <a:t>RNA_nn</a:t>
            </a:r>
            <a:r>
              <a:rPr lang="zh-CN" altLang="en-US" sz="1800"/>
              <a:t>，它基于细胞之间的相似性构建，用于表示细胞之间的连接关系，通常在运行</a:t>
            </a:r>
            <a:r>
              <a:rPr lang="en-US" altLang="zh-CN" sz="1800"/>
              <a:t>FindNeighbors</a:t>
            </a:r>
            <a:r>
              <a:rPr lang="zh-CN" altLang="en-US" sz="1800"/>
              <a:t>函数后生成。</a:t>
            </a:r>
            <a:endParaRPr lang="zh-CN" altLang="en-US" sz="1800"/>
          </a:p>
          <a:p>
            <a:r>
              <a:rPr lang="en-US" altLang="zh-CN" sz="1800"/>
              <a:t>2.</a:t>
            </a:r>
            <a:r>
              <a:rPr lang="zh-CN" altLang="en-US" sz="1800"/>
              <a:t>共享最近邻图（</a:t>
            </a:r>
            <a:r>
              <a:rPr lang="en-US" altLang="zh-CN" sz="1800"/>
              <a:t>Shared Nearest Neighbor Graph</a:t>
            </a:r>
            <a:r>
              <a:rPr lang="zh-CN" altLang="en-US" sz="1800"/>
              <a:t>，</a:t>
            </a:r>
            <a:r>
              <a:rPr lang="en-US" altLang="zh-CN" sz="1800"/>
              <a:t>SNN</a:t>
            </a:r>
            <a:r>
              <a:rPr lang="zh-CN" altLang="en-US" sz="1800"/>
              <a:t>）：如</a:t>
            </a:r>
            <a:r>
              <a:rPr lang="en-US" altLang="zh-CN" sz="1800"/>
              <a:t>RNA_snn</a:t>
            </a:r>
            <a:r>
              <a:rPr lang="zh-CN" altLang="en-US" sz="1800"/>
              <a:t>，同样基于细胞间的相似性，可用于细胞聚类分析等操作。</a:t>
            </a:r>
            <a:endParaRPr lang="zh-CN" alt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reduction</a:t>
            </a:r>
            <a:endParaRPr lang="en-US" altLang="zh-CN"/>
          </a:p>
        </p:txBody>
      </p:sp>
      <p:sp>
        <p:nvSpPr>
          <p:cNvPr id="3" name="内容占位符 2"/>
          <p:cNvSpPr>
            <a:spLocks noGrp="1"/>
          </p:cNvSpPr>
          <p:nvPr>
            <p:ph idx="1"/>
          </p:nvPr>
        </p:nvSpPr>
        <p:spPr>
          <a:xfrm>
            <a:off x="177165" y="975995"/>
            <a:ext cx="11932920" cy="5781675"/>
          </a:xfrm>
        </p:spPr>
        <p:txBody>
          <a:bodyPr/>
          <a:p>
            <a:r>
              <a:rPr lang="en-US" altLang="zh-CN" sz="1800"/>
              <a:t>reduction</a:t>
            </a:r>
            <a:r>
              <a:rPr lang="zh-CN" altLang="en-US" sz="1800"/>
              <a:t>和</a:t>
            </a:r>
            <a:r>
              <a:rPr lang="en-US" altLang="zh-CN" sz="1800"/>
              <a:t>assay</a:t>
            </a:r>
            <a:r>
              <a:rPr lang="zh-CN" altLang="en-US" sz="1800"/>
              <a:t>一样，</a:t>
            </a:r>
            <a:r>
              <a:rPr lang="en-US" altLang="zh-CN" sz="1800"/>
              <a:t>reduction</a:t>
            </a:r>
            <a:r>
              <a:rPr lang="zh-CN" altLang="en-US" sz="1800"/>
              <a:t>也是一个列表。里面包含的是一个或多个</a:t>
            </a:r>
            <a:r>
              <a:rPr lang="en-US" altLang="zh-CN" sz="1800"/>
              <a:t> DimReduc object </a:t>
            </a:r>
            <a:r>
              <a:rPr lang="zh-CN" altLang="en-US" sz="1800"/>
              <a:t>对象。每个</a:t>
            </a:r>
            <a:r>
              <a:rPr lang="en-US" altLang="zh-CN" sz="1800"/>
              <a:t>DimReduc object </a:t>
            </a:r>
            <a:r>
              <a:rPr lang="zh-CN" altLang="en-US" sz="1800"/>
              <a:t>对象对应的是</a:t>
            </a:r>
            <a:r>
              <a:rPr lang="en-US" altLang="zh-CN" sz="1800"/>
              <a:t> assay </a:t>
            </a:r>
            <a:r>
              <a:rPr lang="zh-CN" altLang="en-US" sz="1800"/>
              <a:t>对象进行某种降维分析后得到的结果。降维也就是</a:t>
            </a:r>
            <a:r>
              <a:rPr lang="en-US" altLang="zh-CN" sz="1800"/>
              <a:t>PCA </a:t>
            </a:r>
            <a:r>
              <a:rPr lang="zh-CN" altLang="en-US" sz="1800"/>
              <a:t>、</a:t>
            </a:r>
            <a:r>
              <a:rPr lang="en-US" altLang="zh-CN" sz="1800"/>
              <a:t>tsne </a:t>
            </a:r>
            <a:r>
              <a:rPr lang="zh-CN" altLang="en-US" sz="1800"/>
              <a:t>、</a:t>
            </a:r>
            <a:r>
              <a:rPr lang="en-US" altLang="zh-CN" sz="1800"/>
              <a:t>umap </a:t>
            </a:r>
            <a:r>
              <a:rPr lang="zh-CN" altLang="en-US" sz="1800"/>
              <a:t>三种。</a:t>
            </a:r>
            <a:endParaRPr lang="zh-CN" altLang="en-US" sz="1800"/>
          </a:p>
        </p:txBody>
      </p:sp>
      <p:pic>
        <p:nvPicPr>
          <p:cNvPr id="4" name="图片 3" descr="reduction"/>
          <p:cNvPicPr>
            <a:picLocks noChangeAspect="1"/>
          </p:cNvPicPr>
          <p:nvPr/>
        </p:nvPicPr>
        <p:blipFill>
          <a:blip r:embed="rId1"/>
          <a:stretch>
            <a:fillRect/>
          </a:stretch>
        </p:blipFill>
        <p:spPr>
          <a:xfrm>
            <a:off x="177165" y="2139950"/>
            <a:ext cx="6885305" cy="2846070"/>
          </a:xfrm>
          <a:prstGeom prst="rect">
            <a:avLst/>
          </a:prstGeom>
        </p:spPr>
      </p:pic>
      <p:pic>
        <p:nvPicPr>
          <p:cNvPr id="5" name="图片 4" descr="reduction2"/>
          <p:cNvPicPr>
            <a:picLocks noChangeAspect="1"/>
          </p:cNvPicPr>
          <p:nvPr/>
        </p:nvPicPr>
        <p:blipFill>
          <a:blip r:embed="rId2"/>
          <a:stretch>
            <a:fillRect/>
          </a:stretch>
        </p:blipFill>
        <p:spPr>
          <a:xfrm>
            <a:off x="7329805" y="2139950"/>
            <a:ext cx="4471035" cy="36798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version</a:t>
            </a:r>
            <a:endParaRPr lang="en-US" altLang="zh-CN"/>
          </a:p>
        </p:txBody>
      </p:sp>
      <p:sp>
        <p:nvSpPr>
          <p:cNvPr id="3" name="内容占位符 2"/>
          <p:cNvSpPr>
            <a:spLocks noGrp="1"/>
          </p:cNvSpPr>
          <p:nvPr>
            <p:ph idx="1"/>
          </p:nvPr>
        </p:nvSpPr>
        <p:spPr>
          <a:xfrm>
            <a:off x="187960" y="994410"/>
            <a:ext cx="11730355" cy="5863590"/>
          </a:xfrm>
        </p:spPr>
        <p:txBody>
          <a:bodyPr/>
          <a:p>
            <a:r>
              <a:rPr lang="en-US" altLang="zh-CN" sz="1800"/>
              <a:t>version</a:t>
            </a:r>
            <a:r>
              <a:rPr lang="zh-CN" altLang="en-US" sz="1800"/>
              <a:t>就是，创建这个对象时，所使用的</a:t>
            </a:r>
            <a:r>
              <a:rPr lang="en-US" altLang="zh-CN" sz="1800"/>
              <a:t>Seurat</a:t>
            </a:r>
            <a:r>
              <a:rPr lang="zh-CN" altLang="en-US" sz="1800"/>
              <a:t>版本。</a:t>
            </a:r>
            <a:endParaRPr lang="zh-CN" altLang="en-US" sz="1800"/>
          </a:p>
        </p:txBody>
      </p:sp>
      <p:pic>
        <p:nvPicPr>
          <p:cNvPr id="4" name="图片 3" descr="version"/>
          <p:cNvPicPr>
            <a:picLocks noChangeAspect="1"/>
          </p:cNvPicPr>
          <p:nvPr/>
        </p:nvPicPr>
        <p:blipFill>
          <a:blip r:embed="rId1"/>
          <a:stretch>
            <a:fillRect/>
          </a:stretch>
        </p:blipFill>
        <p:spPr>
          <a:xfrm>
            <a:off x="538480" y="1929765"/>
            <a:ext cx="3344545" cy="10655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a:t>
            </a:r>
            <a:r>
              <a:rPr lang="en-US" altLang="zh-CN"/>
              <a:t>ommand</a:t>
            </a:r>
            <a:endParaRPr lang="en-US" altLang="zh-CN"/>
          </a:p>
        </p:txBody>
      </p:sp>
      <p:sp>
        <p:nvSpPr>
          <p:cNvPr id="3" name="内容占位符 2"/>
          <p:cNvSpPr>
            <a:spLocks noGrp="1"/>
          </p:cNvSpPr>
          <p:nvPr>
            <p:ph idx="1"/>
          </p:nvPr>
        </p:nvSpPr>
        <p:spPr>
          <a:xfrm>
            <a:off x="206375" y="1003935"/>
            <a:ext cx="11741150" cy="5763260"/>
          </a:xfrm>
        </p:spPr>
        <p:txBody>
          <a:bodyPr/>
          <a:p>
            <a:r>
              <a:rPr lang="en-US" altLang="zh-CN" sz="1800"/>
              <a:t>Command</a:t>
            </a:r>
            <a:r>
              <a:rPr lang="zh-CN" altLang="en-US" sz="1800"/>
              <a:t>是一个列表，里面保存的是</a:t>
            </a:r>
            <a:r>
              <a:rPr lang="en-US" altLang="zh-CN" sz="1800"/>
              <a:t>workflow</a:t>
            </a:r>
            <a:r>
              <a:rPr lang="zh-CN" altLang="en-US" sz="1800"/>
              <a:t>中每个步骤所使用的命令和参数</a:t>
            </a:r>
            <a:r>
              <a:rPr lang="en-US" altLang="zh-CN" sz="1800"/>
              <a:t>,</a:t>
            </a:r>
            <a:r>
              <a:rPr lang="zh-CN" altLang="en-US" sz="1800"/>
              <a:t>还有命令执行的日期和时间。</a:t>
            </a:r>
            <a:endParaRPr lang="zh-CN" altLang="en-US" sz="1800"/>
          </a:p>
        </p:txBody>
      </p:sp>
      <p:pic>
        <p:nvPicPr>
          <p:cNvPr id="4" name="图片 3" descr="Command"/>
          <p:cNvPicPr>
            <a:picLocks noChangeAspect="1"/>
          </p:cNvPicPr>
          <p:nvPr/>
        </p:nvPicPr>
        <p:blipFill>
          <a:blip r:embed="rId1"/>
          <a:stretch>
            <a:fillRect/>
          </a:stretch>
        </p:blipFill>
        <p:spPr>
          <a:xfrm>
            <a:off x="1377950" y="2237740"/>
            <a:ext cx="9436100" cy="38328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5877" y="342900"/>
            <a:ext cx="1050372" cy="419793"/>
          </a:xfrm>
          <a:prstGeom prst="rect">
            <a:avLst/>
          </a:prstGeom>
        </p:spPr>
      </p:pic>
      <p:pic>
        <p:nvPicPr>
          <p:cNvPr id="3" name="图片 2"/>
          <p:cNvPicPr>
            <a:picLocks noChangeAspect="1"/>
          </p:cNvPicPr>
          <p:nvPr/>
        </p:nvPicPr>
        <p:blipFill>
          <a:blip r:embed="rId3"/>
          <a:stretch>
            <a:fillRect/>
          </a:stretch>
        </p:blipFill>
        <p:spPr>
          <a:xfrm>
            <a:off x="2134532" y="5668184"/>
            <a:ext cx="7922936" cy="816935"/>
          </a:xfrm>
          <a:prstGeom prst="rect">
            <a:avLst/>
          </a:prstGeom>
        </p:spPr>
      </p:pic>
    </p:spTree>
  </p:cSld>
  <p:clrMapOvr>
    <a:masterClrMapping/>
  </p:clrMapOvr>
</p:sld>
</file>

<file path=ppt/theme/theme1.xml><?xml version="1.0" encoding="utf-8"?>
<a:theme xmlns:a="http://schemas.openxmlformats.org/drawingml/2006/main" name="主题4 研究院月例会汇报16-9-20200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模板-华大研究院</Template>
  <TotalTime>0</TotalTime>
  <Words>2385</Words>
  <Application>WPS 演示</Application>
  <PresentationFormat>宽屏</PresentationFormat>
  <Paragraphs>94</Paragraphs>
  <Slides>18</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宋体</vt:lpstr>
      <vt:lpstr>Wingdings</vt:lpstr>
      <vt:lpstr>微软雅黑</vt:lpstr>
      <vt:lpstr>方正兰亭黑简体</vt:lpstr>
      <vt:lpstr>Arial Unicode MS</vt:lpstr>
      <vt:lpstr>等线</vt:lpstr>
      <vt:lpstr>等线 Light</vt:lpstr>
      <vt:lpstr>Calibri</vt:lpstr>
      <vt:lpstr>Times New Roman</vt:lpstr>
      <vt:lpstr>主题4 研究院月例会汇报16-9-202006</vt:lpstr>
      <vt:lpstr>Title</vt:lpstr>
      <vt:lpstr>Background</vt:lpstr>
      <vt:lpstr>Introduction</vt:lpstr>
      <vt:lpstr>Materials &amp; Methods</vt:lpstr>
      <vt:lpstr>PowerPoint 演示文稿</vt:lpstr>
      <vt:lpstr>Result1</vt:lpstr>
      <vt:lpstr>Result2</vt:lpstr>
      <vt:lpstr>Conclusion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魏桐(Weitong)</dc:creator>
  <cp:lastModifiedBy>黄培霖</cp:lastModifiedBy>
  <cp:revision>17</cp:revision>
  <dcterms:created xsi:type="dcterms:W3CDTF">2022-10-16T09:36:00Z</dcterms:created>
  <dcterms:modified xsi:type="dcterms:W3CDTF">2025-08-29T03:33:53Z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0x0101006AB1DA3E7EA45A4F9BC156508C53DE7E</vt:lpwstr>
  </property>
  <property fmtid="{D5CDD505-2E9C-101B-9397-08002B2CF9AE}" pid="3" name="KSOProductBuildVer">
    <vt:lpwstr>2052-12.1.0.21915</vt:lpwstr>
  </property>
  <property fmtid="{D5CDD505-2E9C-101B-9397-08002B2CF9AE}" pid="4" name="ICV">
    <vt:lpwstr>F3FFF4FE230E4A91B64B4F287F418E17_12</vt:lpwstr>
  </property>
</Properties>
</file>